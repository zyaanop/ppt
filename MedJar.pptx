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MULTI-AGENT CLINICAL REASONING  ·  RESEARCH SEMINAR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600000"/>
            <a:ext cx="10800000" cy="15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5000" b="1" dirty="0">
                <a:solidFill>
                  <a:srgbClr val="1B1B22"/>
                </a:solidFill>
                <a:latin typeface="Georgia"/>
              </a:rPr>
              <a:t>MedJar: Consensus Diagnosis by Debating Specialist Agents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90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760"/>
              </a:spcBef>
            </a:pPr>
            <a:r>
              <a:rPr lang="en-US" sz="1600" dirty="0">
                <a:solidFill>
                  <a:srgbClr val="3F3F4A"/>
                </a:solidFill>
                <a:latin typeface="Georgia"/>
              </a:rPr>
              <a:t>Persona-conditioned language-model specialists reason independently over a</a:t>
            </a:r>
          </a:p>
          <a:p>
            <a:pPr>
              <a:spcBef>
                <a:spcPts val="760"/>
              </a:spcBef>
            </a:pPr>
            <a:r>
              <a:rPr lang="en-US" sz="1600" dirty="0">
                <a:solidFill>
                  <a:srgbClr val="3F3F4A"/>
                </a:solidFill>
                <a:latin typeface="Georgia"/>
              </a:rPr>
              <a:t>patient case, ground every claim in retrieved literature, and are driven toward</a:t>
            </a:r>
          </a:p>
          <a:p>
            <a:pPr>
              <a:spcBef>
                <a:spcPts val="760"/>
              </a:spcBef>
            </a:pPr>
            <a:r>
              <a:rPr lang="en-US" sz="1600" dirty="0">
                <a:solidFill>
                  <a:srgbClr val="3F3F4A"/>
                </a:solidFill>
                <a:latin typeface="Georgia"/>
              </a:rPr>
              <a:t>a calibrated, auditable diagnosis through structured debate.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60"/>
              </a:spcBef>
            </a:pPr>
            <a:r>
              <a:rPr lang="en-US" sz="1600" dirty="0">
                <a:solidFill>
                  <a:srgbClr val="3F3F4A"/>
                </a:solidFill>
                <a:latin typeface="Georgia"/>
              </a:rPr>
              <a:t>Radiologist   ·   Cardiologist   ·   Oncologist   ·   extensible ensemble</a:t>
            </a:r>
          </a:p>
          <a:p>
            <a:pPr>
              <a:spcBef>
                <a:spcPts val="760"/>
              </a:spcBef>
            </a:pPr>
            <a:r>
              <a:rPr lang="en-US" sz="1600" dirty="0">
                <a:solidFill>
                  <a:srgbClr val="3F3F4A"/>
                </a:solidFill>
                <a:latin typeface="Georgia"/>
              </a:rPr>
              <a:t>Assistive   ·   human-in-the-loop   ·   not an autonomous diagnostic device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01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THE PROBLEM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Complex diagnosis fails for structural reasons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~1 in 20 adults hit a diagnostic error — concentrated in complex cases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Anchoring bias &amp; premature closure shut down the differential early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Specialty silos: cardiologist &amp; oncologist rarely reason together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Guidelines go stale; a lone LLM asserts false facts fluently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 single 'expert' model collapses the field into one distribution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02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CORE INSIGHT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Disagreeing experts, forced to reconcile evidence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No single mind holds the whole of medicine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Debate  &gt;  Vote     — use the reasons, not just the answers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Disagreement = Signal — it drives retrieval &amp; escalation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Ground everything   — no clinical claim without a citation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03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SYSTEM ARCHITECTURE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Six layers, one control loop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0 · Intake — case files -&gt; de-identification -&gt; normalization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1 · Representation — multimodal encoders -&gt; Case Context Object (CCO)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2 · Knowledge / RAG — hybrid retrieval, per-specialty scopes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3 · Reasoning — the debate loop (specialists + orchestrator)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4 · Consensus &amp; Calibration — weighting, uncertainty, red-flags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5 · Reporting — unified report + provenance + replayable audit log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04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THE AGENT ENSEMBLE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Each specialist = &lt;persona, tools, retrieval scope&gt;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Radiologist — morphology -&gt; localization -&gt; imaging differential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Cardiologist — rhythm, ischemia, hemodynamics, structure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Oncologist — tissue of origin, staging, biomarkers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Generalist — guards the 'whole patient'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Scoped retrieval preserves diversity; plug-in registry for new specialties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05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REASONING CONTRACT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Every turn is structured, never free prose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Agents return: differential[] with likelihood + cited evidence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supporting_evidence / refuting_evidence -&gt; citation_id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discriminating_test — what most changes the probabilities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red_flags[], calibrated confidence, requests[] (retrieve / ask-human)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Groundedness verifier rejects ungrounded claims before the debate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06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KNOWLEDGE GROUNDING · RAG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Hybrid retrieval -&gt; re-rank -&gt; cite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Dense (vector, cosine) + Sparse (BM25 exact terms, drugs, genes)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Reciprocal Rank Fusion:  RRF(d) = Sum 1 / (k + rank_r(d)),  k ~ 60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Cross-encoder re-ranking for precision on top-N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NLI groundedness check; provenance -&gt; Evidence Ledger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Versioned corpus + ICD-10 / SNOMED CT / LOINC / RxNorm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07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THE DEBATE PROTOCOL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Propose -&gt; Critique -&gt; Rebut -&gt; Converge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1 Propose — no cross-talk; independent differentials prevent anchoring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2 Critique — anonymized, adversarial, grounded attacks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3 Rebut — revise; disagreement triggers targeted retrieval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4 Converge — aggregate, loop, or escalate to a human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Red-flag override: a minority can't-miss dx forces escalation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08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CONSENSUS MATHEMATICS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Confidence-weighted, evidence-adjusted aggregation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Ensemble score:  S(h) = Sum w_i(h) c_i p_i(h) / Sum w_i(h) c_i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w_i(h): soft specialty weight   c_i: calibrated confidence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Disagreement (weighted variance) D-bar is the control signal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Evidence adjust:  S*(h) = sigma( a·logit S(h) + b·E(h) )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Stop when: D-bar &lt;= t_agree  |  r = R_max  |  red-flag &gt; t_flag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09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ORCHESTRATION · CHIEF-OF-SERVICE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A deterministic controller convenes the room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Allocates turns &amp; anonymizes identities during critique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Enforces the contract; rejects malformed / ungrounded turns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Computes D-bar, evidence scores, applies the stopping rule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Manages the Evidence Ledger &amp; immutable audit log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Deterministic (not free-form LLM) -&gt; predictable, testable, auditable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10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CONTROL FLOW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The state machine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INTAKE -&gt; PROPOSE -&gt; CRITIQUE -&gt; REBUT -&gt; ASSESS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ASSESS: converged        -&gt; CONSENSUS -&gt; REPORT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ASSESS: not converged    -&gt; loop PROPOSE (while r &lt; R_max)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ASSESS: red-flag / R_max  -&gt; ESCALATE to human + full transcript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Bounded compute; every transition logged and replayable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11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MULTIMODAL INTAKE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Everything normalizes into the CCO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Structured EHR (FHIR/HL7) -&gt; labs, meds, problems (coded)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Clinical notes -&gt; de-id, section parse, negation extraction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Imaging (DICOM) -&gt; vision findings; raw pixels stay in enclave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Pathology, genomics (VCF), ECG/waveform features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De-identification at the boundary; reasoning never sees identifiers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12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THE UNIFIED DIAGNOSTIC REPORT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Leads with uncertainty, not a bare answer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Ranked differential: calibrated S*(h) + cited for/against evidence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Discriminating next test per hypothesis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Red-flag panel: excluded / needs work-up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Points of disagreement — never hidden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Confidence &amp; status (converged vs escalated) + full audit trail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13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WORKED CASE (synthetic)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58 y/o: dyspnea, weight loss, RUL nodule, up-troponin, effusion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Radiologist: spiculated nodule -&gt; primary lung malignancy; PET-CT+biopsy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Cardiologist: up-troponin + effusion -&gt; exclude ACS &amp; tamponade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Oncologist: malignant effusion would upstage — needs cytology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Resolves: tissue + effusion cytology are the discriminating tests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RED-FLAG: tamponade -&gt; escalate with explicit open question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14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EVALUATION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Judged as decision-support, not a quiz-taker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Accuracy: Top-1 / Top-3 differential hit rate vs gold diagnosis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Calibration: ECE, Brier score, reliability diagrams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Safety: can't-miss recall + FALSE-REASSURANCE rate (primary endpoint)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Groundedness: % of claims entailed by their citation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Ablations: single vs ensemble, vote vs debate, +/- RAG; silent trial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15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SAFETY · ETHICS · REGULATORY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Assistive by design — the clinician decides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Mandatory human sign-off before any recommendation informs care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Uncertainty &amp; red-flags escalate rather than closing the case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HIPAA/GDPR de-id, PHI enclave, encryption, full access audit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Likely SaMD (FDA) / MDR (EU); follows Good ML Practice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Bias &amp; equity: stratified corpus, per-subgroup calibration monitoring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16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LIMITATIONS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Where it can fail — and the mitigation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Garbage-in case files -&gt; escalation gate (can't order missing exam)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Correlated errors -&gt; heterogeneous models + devil's-advocate + RAG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Corpus staleness -&gt; versioned, evidence-graded curation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Persuasive-but-wrong -&gt; evidence-weighted, not rhetoric-weighted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Automation bias -&gt; lead with uncertainty; compute -&gt; bounded triage mode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17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ROADMAP &amp; TAKEAWAY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From disagreeing experts to one grounded, auditable report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Phase 0: 3 agents, text cases, retrospective validation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Phase 1: multimodal + calibration + groundedness verifier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Phase 2: prospective silent trial (read-only)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Phase 3-4: regulated pilot -&gt; scale specialties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Grounded · Transparent · Calibrated · Safe · Auditable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18 / 18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edJar">
  <a:themeElements>
    <a:clrScheme name="MedJar">
      <a:dk1>
        <a:srgbClr val="070B14"/>
      </a:dk1>
      <a:lt1>
        <a:srgbClr val="E9F1FF"/>
      </a:lt1>
      <a:dk2>
        <a:srgbClr val="101C33"/>
      </a:dk2>
      <a:lt2>
        <a:srgbClr val="9FB2CF"/>
      </a:lt2>
      <a:accent1>
        <a:srgbClr val="2FE0C8"/>
      </a:accent1>
      <a:accent2>
        <a:srgbClr val="4C8DFF"/>
      </a:accent2>
      <a:accent3>
        <a:srgbClr val="9B7BFF"/>
      </a:accent3>
      <a:accent4>
        <a:srgbClr val="FFB547"/>
      </a:accent4>
      <a:accent5>
        <a:srgbClr val="42D98A"/>
      </a:accent5>
      <a:accent6>
        <a:srgbClr val="FF5D6C"/>
      </a:accent6>
      <a:hlink>
        <a:srgbClr val="4C8DFF"/>
      </a:hlink>
      <a:folHlink>
        <a:srgbClr val="9B7BFF"/>
      </a:folHlink>
    </a:clrScheme>
    <a:fontScheme name="MedJar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edJa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MedJar Deck Generator</Application>
  <Company>MedJar</Company>
  <Slides>18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MedJar — Multi-Agent Consensus for Medical Diagnosis</dc:title>
  <dc:creator>MedJar</dc:creator>
  <cp:lastModifiedBy>MedJar</cp:lastModifiedBy>
  <dcterms:created xsi:type="dcterms:W3CDTF">2026-09-09T13:48:26Z</dcterms:created>
  <dcterms:modified xsi:type="dcterms:W3CDTF">2026-09-09T13:48:26Z</dcterms:modified>
</cp:coreProperties>
</file>