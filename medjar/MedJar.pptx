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MULTI-AGENT CLINICAL REASONING  ·  RESEARCH SEMINAR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600000"/>
            <a:ext cx="10800000" cy="15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5000" b="1" dirty="0">
                <a:solidFill>
                  <a:srgbClr val="1B1B22"/>
                </a:solidFill>
                <a:latin typeface="Georgia"/>
              </a:rPr>
              <a:t>MedJar: Consensus Diagnosis by Debating Specialist Agents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90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760"/>
              </a:spcBef>
            </a:pPr>
            <a:r>
              <a:rPr lang="en-US" sz="1600" dirty="0">
                <a:solidFill>
                  <a:srgbClr val="3F3F4A"/>
                </a:solidFill>
                <a:latin typeface="Georgia"/>
              </a:rPr>
              <a:t>Persona-conditioned language-model specialists reason independently over a</a:t>
            </a:r>
          </a:p>
          <a:p>
            <a:pPr>
              <a:spcBef>
                <a:spcPts val="760"/>
              </a:spcBef>
            </a:pPr>
            <a:r>
              <a:rPr lang="en-US" sz="1600" dirty="0">
                <a:solidFill>
                  <a:srgbClr val="3F3F4A"/>
                </a:solidFill>
                <a:latin typeface="Georgia"/>
              </a:rPr>
              <a:t>patient case, ground every claim in retrieved literature, and are driven</a:t>
            </a:r>
          </a:p>
          <a:p>
            <a:pPr>
              <a:spcBef>
                <a:spcPts val="760"/>
              </a:spcBef>
            </a:pPr>
            <a:r>
              <a:rPr lang="en-US" sz="1600" dirty="0">
                <a:solidFill>
                  <a:srgbClr val="3F3F4A"/>
                </a:solidFill>
                <a:latin typeface="Georgia"/>
              </a:rPr>
              <a:t>toward a calibrated, auditable diagnosis through structured debate.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760"/>
              </a:spcBef>
            </a:pPr>
            <a:r>
              <a:rPr lang="en-US" sz="1600" dirty="0">
                <a:solidFill>
                  <a:srgbClr val="3F3F4A"/>
                </a:solidFill>
                <a:latin typeface="Georgia"/>
              </a:rPr>
              <a:t>Radiologist  ·  Cardiologist  ·  Oncologist  ·  Generalist</a:t>
            </a:r>
          </a:p>
          <a:p>
            <a:pPr>
              <a:spcBef>
                <a:spcPts val="760"/>
              </a:spcBef>
            </a:pPr>
            <a:r>
              <a:rPr lang="en-US" sz="1600" dirty="0">
                <a:solidFill>
                  <a:srgbClr val="3F3F4A"/>
                </a:solidFill>
                <a:latin typeface="Georgia"/>
              </a:rPr>
              <a:t>Assistive  ·  human-in-the-loop  ·  not an autonomous diagnostic device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01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MOTIVATION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Diagnostic error is a systems problem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~5% of adults experience a diagnostic error in outpatient care each year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Anchoring - an initial impression suppresses competing hypotheses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Premature closure - the search ends once a plausible answer appears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Specialty siloing - the experts who would resolve the case never meet on it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Knowledge drift - guidelines change faster than any individual tracks them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Medicine's countermeasure is the tumour board. What makes it work is not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consensus but STRUCTURED DISAGREEMENT. Can that be made computational?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02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MOTIVATION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Why a single model is insufficient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Correlated failure - one prior yields one blind spot, with no internal adversary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Miscalibrated confidence - self-consistent but wrong, asserted confidently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Unverifiable grounding - claims not bound to a source cannot be audited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Majority voting does not fix this: it discards WHY agents differ and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systematically silences the minority can't-miss diagnosis - the most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consequential error mode in acute care.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03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CONTRIBUTIONS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Contributions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1. Specialist multi-agent formulation with private, specialty-scoped retrieval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2. A structured debate protocol operating on grounded reasons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3. A consensus formalism: weighted aggregation, evidence adjustment, and a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disagreement metric driving an explicit stopping / escalation rule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4. A competence-scoped critique rule shown to be NECESSARY for safety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5. A complete deterministic prototype, with negative results reported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04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SYSTEM  ·  ARCHITECTURE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Six layers, one control loop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0 - Intake: de-identification, normalisation, ontology coding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1 - Representation: multimodal encoders -&gt; Case Context Object (CCO)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2 - Knowledge: hybrid retrieval over a versioned, evidence-graded corpus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3 - Reasoning: specialist agents and the debate loop (only stochastic stage)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4 - Consensus: Eqs. (1)-(3), stopping rule, escalation gate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5 - Reporting: ranked differential, provenance, replayable audit trail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See Figure 1 (figures/fig01_architecture.svg)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05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SYSTEM  ·  WORKFLOW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The complete workflow, end to end (steps 1-16)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Sources -&gt; 1 ingest &amp; normalise -&gt; 2 de-identify   [PHI TRUST BOUNDARY]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3 encode modalities -&gt; 4 Case Context Object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5 corpus index -&gt; 6 RRF fusion &amp; re-rank -&gt; 7 groundedness gate -&gt; Ledger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8 independent proposal: agents retrieve privately, do not see each other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9 align hypothesis space -&gt; 10 critique -&gt; 11 rebut -&gt; 12 assess   [LOOP]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13 Eq.1 S(h) -&gt; Eq.2 S*(h) -&gt; Eq.3 D-bar -&gt; 14 stopping rule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15 diagnostic report -&gt; 16 clinician review and mandatory sign-off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See Figure 2 (figures/fig02_workflow.svg) - the full swimlane diagram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06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SYSTEM  ·  REPRESENTATION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Everything normalises into the Case Context Object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Structured EHR (FHIR/HL7) -&gt; labs, meds, problems, coded to LOINC/ICD/RxNorm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Clinical notes -&gt; de-identified, section-parsed, negation-extracted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Imaging (DICOM) -&gt; vision findings; raw pixels never leave the enclave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Pathology, genomics (VCF), ECG and waveform features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Explicit NEGATIONS are carried, so agents can distinguish 'absent' from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'not assessed' - a distinction lost when notes are flattened into text.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07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METHOD  ·  GROUNDING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Hybrid retrieval, then a hard grounding gate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Dense vector search for semantic recall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Okapi BM25 for exact clinical terms, drug names, gene symbols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Reciprocal rank fusion:  RRF(d) = SUM 1 / (k + rank_s(d)),  k ~ 60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Cross-encoder re-ranking for precision; specialty and recency boosting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GROUNDEDNESS GATE: a claim not entailed by its cited passage is excluded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from aggregation. Survivors are written to the append-only Evidence Ledger.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08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METHOD  ·  AGENTS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The specialist ensemble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Radiologist  - morphology -&gt; localisation -&gt; imaging differential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Cardiologist - exclude life-threatening cardiac aetiology first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Oncologist   - tissue of origin, staging, biomarkers, tempo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Generalist   - whole-patient coherence; guards against over-specialisation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Scoped retrieval keeps perspectives distinct. Global retrieval would return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the same passages to everyone and homogenise the ensemble.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09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METHOD  ·  CONTRACT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Structured turns and a shared hypothesis space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Every turn returns structured output, never free prose: per-hypothesis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likelihood, supporting and refuting claims bound to citation ids, the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discriminating next test, red flags, and calibrated confidence.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AGENTS NEVER ABSTAIN. An agent with no prior for a hypothesis registers a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low cautionary floor, lifted slightly for can't-miss diagnoses. Floors count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in S(h) with reduced weight but are EXCLUDED from the disagreement metric: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absence of an opinion is not dissent.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10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METHOD  ·  DEBATE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Propose -&gt; critique -&gt; rebut -&gt; assess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1 PROPOSE - isolated. No cross-talk, so early anchoring cannot spread.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2 CRITIQUE - anonymised and grounded: missing confirmation, overcall,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or alternative (the last reserved to the generalist).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3 REBUT - concede, defend, or revise. Defence scales with grounded citations.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Contested points seed TARGETED RE-RETRIEVAL: disagreement does work.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4 ASSESS - recompute S*, D-bar, red flags; apply the stopping rule.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At least one critique round always runs: coinciding impressions are still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cross-examined. See Figure 5 (figures/fig04_debate_sequence.svg)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11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METHOD  ·  CRITIQUE ADMISSIBILITY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The right to object is tied to competence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An 'overcall' critique is admissible ONLY if the critic holds a genuine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prior for that diagnosis. Every critique's severity scales with w_i(h).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This is not a detail. Without it, three agents with no cardiology competence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drove a correct acute coronary syndrome diagnosis from S* 0.84 to 0.27 -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below the escalation threshold - and the case converged instead of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escalating. An agent's ignorance is not evidence.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See slide 'Four failure modes', item (b).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12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METHOD  ·  CONSENSUS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Consensus formalism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Eq. 1   S(h)  = SUM_i w_i(h) c_i p_i(h)  /  SUM_i w_i(h) c_i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Eq. 2   S*(h) = sigma( alpha * logit S(h) + beta * E(h) )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Eq. 3   Disagree(h) = SUM_i w c (p_i - S)^2 / SUM_i w c,  over substantive i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w_i(h) - soft mixture-of-experts weight: 1.00 in-domain, 0.58-0.82 adjacent,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0.45 otherwise. Not a router - every agent votes on every hypothesis.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c_i - calibrated confidence.   E(h) - grade-, recency- and entailment-weighted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net evidence.   D-bar - mean of Eq. 3 over the top-3 hypotheses.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13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METHOD  ·  CONTROL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Deterministic orchestration and the stopping rule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Control flow is a finite-state machine, NOT a model: predictable, testable,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auditable. It anonymises critiques, enforces the contract, rejects ungrounded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turns, owns the Evidence Ledger, and enforces compute budgets.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CONVERGE    D-bar &lt;= tau_agree        -&gt; aggregate and report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BUDGET      r = R_max                 -&gt; escalate, stating the disagreement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CAN'T-MISS  red-flag dx S* &gt;= tau_flag -&gt; escalate, overriding consensus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The override is asymmetric: it can force escalation, never suppress it.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tau_agree = 0.010   tau_flag = 0.30   R_max = 4   r_min = 1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14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METHOD  ·  OUTPUT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The report leads with uncertainty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Status banner (converged / escalated, with the reason)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1 synthesis  ·  2 can't-miss panel  ·  3 ranked differential with S*, S, 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4 evidence per hypothesis  ·  5 points of disagreement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6 debate trajectory  ·  7 next steps  ·  8 audit trail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The ordering is a SAFETY decision, not a stylistic one: the clinically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valuable content is what the system is uncertain about. Disagreement is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surfaced, never suppressed - it marks where judgement is needed.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15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SYSTEM  ·  DEPLOYMENT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Trust boundaries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PHI ENCLAVE - source systems, de-identification, token map, raw pixels,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immutable access audit log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REASONING ZONE - de-identified CCO only: agent runtime, orchestrator,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retrieval service, Evidence Ledger, consensus and calibration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CLINICAL REVIEW - report re-identified on demand, then mandatory sign-off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No patient identifier crosses into the reasoning zone; every access is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audited. See Figure 9 (figures/fig09_deployment.svg)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16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PROTOTYPE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A complete, dependency-free implementation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schemas.py    CCO, hypotheses, claims, ledger entries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corpus.py     24-passage versioned, evidence-graded corpus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retrieval.py  BM25 + dense index + RRF fusion + re-ranker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verify.py     groundedness gate       agents.py   personas and critique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consensus.py  Eqs. (1)-(3), ECE/Brier debate.py   Chief-of-Service FSM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No third-party dependencies, fully deterministic - the debate and consensus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mathematics can be verified without a model in the loop. Two interchangeable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back-ends: RuleBasedEngine (offline) and LLMEngine (production path).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cd prototype &amp;&amp; python3 run_demo.py     |     cd figures &amp;&amp; python3 make_figures.py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17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RESULTS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What the prototype does (3 synthetic cases)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CASE-001  primary lung malignancy   S* 0.79 (hit)  4 rounds  ESCALATED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CASE-002  benign granuloma          S* 0.59 (hit)  2 rounds  CONVERGED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CASE-003  acute coronary syndrome   S* 0.55 (hit)  1 round   ESCALATED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Top-1 3/3   Top-3 3/3   claims passing grounding gate 130/130   ledger 91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ECE 0.243   Brier 0.077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The three cases exercise all three stopping paths. THREE SYNTHETIC CASES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WITH A DETERMINISTIC REASONER: this validates mechanism, not diagnostic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performance. The 3/3 hit rate carries no clinical weight.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18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RESULTS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Disagreement works as a control signal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CASE-002  D-bar 0.0112 -&gt; 0.0104 -&gt; 0.0093   falls below tau_agree: CONVERGES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CASE-001  D-bar 0.0384 -&gt; 0.0345 (plateau)   specialists narrow but cannot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      reconcile, so the case ESCALATES with its open disagreement stated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CASE-003  D-bar 0.0037 -&gt; 0.0034   agrees early, yet still escalates because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      a can't-miss diagnosis overrides consensus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D-bar gives a principled, compute-bounded criterion for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'we are not sure - ask a human'.  See Figure 10.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19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RESULTS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Evidence adjustment does real work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The gap between S and S* is the contribution of grounded evidence.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Primary lung malignancy      GAINS:  E = +0.72,  S 0.72 -&gt; S* 0.79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Malignant pericardial eff.   LOSES:  E = -0.34,  S 0.37 -&gt; S* 0.33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The retrieved guidance states that cytological confirmation is required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before that classification - the corpus actively argues against asserting it.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Plausibility and support are thereby separated.  See Figure 12.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20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RESULTS  ·  NEGATIVE RESULT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Calibration is not yet met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ECE = 0.243 over 19 hypothesis-level predictions. This is POOR, and we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report it plainly.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The temperatures and the coefficients alpha, beta are hand-set, not fitted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on held-out data, so S* carries no calibration guarantee.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Because Eq. (1) weights agents BY their confidence, this requirement is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currently unmet. S* should be read ordinally, not as a probability.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Fitting the calibration layer is the first prerequisite for any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performance claim.  See Figure 13.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21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FINDINGS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Four failure modes the implementation exposed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(a) HYPOTHESES FLOATING ON THEIR PRIOR - a diagnosis with no supporting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feature present still scored ~0.33 on its intercept alone.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(b) INCOMPETENT CRITIQUE -&gt; FALSE REASSURANCE - agents with no cardiology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competence drove a correct ACS diagnosis from 0.84 to 0.27, below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tau_flag; the case converged instead of escalating.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(c) UNBOUNDED REINFORCEMENT -&gt; ECHO CHAMBER - uncontested positions inflated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every round, so apparent disagreement drifted upward.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(d) IGNORANCE FLOORS COUNTED AS DISSENT - floors never move, creating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irreducible disagreement; the benign case failed to converge.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All four are fixed in the code and reflected in the reported results.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22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FINDINGS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Aggregation rules, not agent count, determine safety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Failure (b) is the transferable result.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An unweighted debate among heterogeneous agents is not merely noisier than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 single competent agent - it can be systematically MORE DANGEROUS, because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it provides a mechanism for confident non-experts to overrule a correct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specialist.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Debate is only safe if the right to object is tied to competence.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23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EVALUATION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The study this is not (yet)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Data: knowledge probes (MedQA, MedMCQA, PubMedQA); clinicopathological-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conference cases with confirmed diagnoses; a prospective SILENT TRIAL,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read-only, never influencing care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Primary endpoint is SAFETY, not accuracy: can't-miss recall and the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false-reassurance rate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Also: ECE / Brier, groundedness, blinded specialist ratings,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rounds-to-converge, and accuracy / calibration parity across subgroups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Ablations: single agent | majority vote | debate without RAG |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without calibration | full system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24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SAFETY  ·  ETHICS  ·  REGULATORY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Assistive by design - the clinician decides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Mandatory clinician sign-off before any recommendation informs care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Uncertainty and can't-miss findings escalate rather than closing a case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De-identification at intake, PHI enclave, encryption, per-access audit;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no training on patient data absent explicit governance and consent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Likely Software as a Medical Device: transparent evidence and a replayable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transcript support independent clinician review, but deployment needs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clinical validation, change control, and post-market surveillance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Equity: stratified corpus and evaluation, per-subgroup calibration monitoring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25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LIMITATIONS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Limitations and threats to validity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Three synthetic cases, rule-based reasoner - mechanism only. No LLM in the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loop, no real patient data, no clinician review.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Calibration unmet (ECE 0.243) - weighted aggregation is sound only once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c_i is fitted.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Surrogate components - hashed bag-of-words embeddings, lexical-coverage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entailment, term-overlap re-ranking. Each would change absolute numbers.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Crude polarity classification - ACS received E = -0.41 because passages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DEFINING its criteria contain cautionary language.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Correlated agent failure, corpus gaps, automation bias, and compute cost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    all remain open.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26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CONCLUSION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Conclusion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MedJar recasts the multidisciplinary case conference as a computational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protocol: specialists reason independently, ground every claim, debate under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rules that tie the right to object to competence, and converge on a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calibrated, auditable assessment - escalating to a human precisely when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they should.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Demonstrated: the full pipeline runs end to end, deterministically, and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D-bar functions as a control signal across all three stopping paths.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Next: fit the calibration layer, then a prospective silent trial - the only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way to learn whether any of this helps a clinician.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27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ule"/>
          <p:cNvSpPr/>
          <p:nvPr/>
        </p:nvSpPr>
        <p:spPr>
          <a:xfrm>
            <a:off x="640000" y="1030000"/>
            <a:ext cx="620000" cy="34000"/>
          </a:xfrm>
          <a:prstGeom prst="roundRect">
            <a:avLst>
              <a:gd name="adj" fmla="val 6000"/>
            </a:avLst>
          </a:prstGeom>
          <a:solidFill>
            <a:srgbClr val="8A152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kicker"/>
          <p:cNvSpPr>
            <a:spLocks noGrp="1"/>
          </p:cNvSpPr>
          <p:nvPr/>
        </p:nvSpPr>
        <p:spPr>
          <a:xfrm>
            <a:off x="640000" y="540000"/>
            <a:ext cx="10000000" cy="4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1150" b="1" dirty="0">
                <a:solidFill>
                  <a:srgbClr val="8A1524"/>
                </a:solidFill>
                <a:latin typeface="Consolas"/>
              </a:rPr>
              <a:t>ARTEFACTS</a:t>
            </a:r>
          </a:p>
        </p:txBody>
      </p:sp>
      <p:sp>
        <p:nvSpPr>
          <p:cNvPr id="12" name="title"/>
          <p:cNvSpPr>
            <a:spLocks noGrp="1"/>
          </p:cNvSpPr>
          <p:nvPr/>
        </p:nvSpPr>
        <p:spPr>
          <a:xfrm>
            <a:off x="630000" y="1120000"/>
            <a:ext cx="10800000" cy="12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000" b="1" dirty="0">
                <a:solidFill>
                  <a:srgbClr val="1B1B22"/>
                </a:solidFill>
                <a:latin typeface="Georgia"/>
              </a:rPr>
              <a:t>Where everything lives</a:t>
            </a:r>
          </a:p>
        </p:txBody>
      </p:sp>
      <p:sp>
        <p:nvSpPr>
          <p:cNvPr id="13" name="body"/>
          <p:cNvSpPr>
            <a:spLocks noGrp="1"/>
          </p:cNvSpPr>
          <p:nvPr/>
        </p:nvSpPr>
        <p:spPr>
          <a:xfrm>
            <a:off x="700000" y="2650000"/>
            <a:ext cx="10600000" cy="34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PAPER.md              the full technical report, with all 14 figures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presentation.html     figure-driven deck, self-contained (open in a browser)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figures/*.svg         14 vector figures + make_figures.py that generates them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prototype/            the runnable system; run_demo.py reproduces the results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prototype/output/     generated reports, debate transcripts, trace.json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This PPTX is the text-only companion. The figures - including the full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end-to-end workflow diagram - are in figures/ and embedded in PAPER.md</a:t>
            </a: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and presentation.html.</a:t>
            </a:r>
          </a:p>
          <a:p>
            <a:pPr>
              <a:spcBef>
                <a:spcPts val="200"/>
              </a:spcBef>
            </a:pPr>
          </a:p>
          <a:p>
            <a:pPr marL="342900" indent="-342900">
              <a:spcBef>
                <a:spcPts val="760"/>
              </a:spcBef>
              <a:buClr>
                <a:srgbClr val="8A1524"/>
              </a:buClr>
              <a:buFont typeface="Arial"/>
              <a:buChar char="–"/>
            </a:pPr>
            <a:r>
              <a:rPr lang="en-US" sz="1500" dirty="0">
                <a:solidFill>
                  <a:srgbClr val="3F3F4A"/>
                </a:solidFill>
                <a:latin typeface="Georgia"/>
              </a:rPr>
              <a:t>Decision support only. Not a medical device.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640000" y="6420000"/>
            <a:ext cx="10000000" cy="36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950" dirty="0">
                <a:solidFill>
                  <a:srgbClr val="8A8A96"/>
                </a:solidFill>
                <a:latin typeface="Consolas"/>
              </a:rPr>
              <a:t>MedJar   ·   28 / 28   ·   assistive decision-support, not an autonomous device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edJar">
  <a:themeElements>
    <a:clrScheme name="MedJar">
      <a:dk1>
        <a:srgbClr val="070B14"/>
      </a:dk1>
      <a:lt1>
        <a:srgbClr val="E9F1FF"/>
      </a:lt1>
      <a:dk2>
        <a:srgbClr val="101C33"/>
      </a:dk2>
      <a:lt2>
        <a:srgbClr val="9FB2CF"/>
      </a:lt2>
      <a:accent1>
        <a:srgbClr val="2FE0C8"/>
      </a:accent1>
      <a:accent2>
        <a:srgbClr val="4C8DFF"/>
      </a:accent2>
      <a:accent3>
        <a:srgbClr val="9B7BFF"/>
      </a:accent3>
      <a:accent4>
        <a:srgbClr val="FFB547"/>
      </a:accent4>
      <a:accent5>
        <a:srgbClr val="42D98A"/>
      </a:accent5>
      <a:accent6>
        <a:srgbClr val="FF5D6C"/>
      </a:accent6>
      <a:hlink>
        <a:srgbClr val="4C8DFF"/>
      </a:hlink>
      <a:folHlink>
        <a:srgbClr val="9B7BFF"/>
      </a:folHlink>
    </a:clrScheme>
    <a:fontScheme name="MedJar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edJa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MedJar Deck Generator</Application>
  <Company>MedJar</Company>
  <Slides>28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MedJar — Multi-Agent Consensus for Medical Diagnosis</dc:title>
  <dc:creator>MedJar</dc:creator>
  <cp:lastModifiedBy>MedJar</cp:lastModifiedBy>
  <dcterms:created xsi:type="dcterms:W3CDTF">2026-09-10T05:19:55Z</dcterms:created>
  <dcterms:modified xsi:type="dcterms:W3CDTF">2026-09-10T05:19:55Z</dcterms:modified>
</cp:coreProperties>
</file>